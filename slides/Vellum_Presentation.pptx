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VELLUM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Chart Coding, Reimagined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Natural Language Technology for Health 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·  Aditya Desai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Clinical NLP Technology?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turn unstructured clinical documentation into structured, usable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33574" cy="3246120"/>
          </a:xfrm>
          <a:prstGeom prst="roundRect">
            <a:avLst>
              <a:gd name="adj" fmla="val 433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8227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358227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1312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4114800"/>
            <a:ext cx="21312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understands clinical text — diagnoses, procedures, narrative notes.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2254" y="1965960"/>
            <a:ext cx="2533574" cy="3246120"/>
          </a:xfrm>
          <a:prstGeom prst="roundRect">
            <a:avLst>
              <a:gd name="adj" fmla="val 433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11841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11841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3422" y="3383280"/>
            <a:ext cx="21312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3422" y="4114800"/>
            <a:ext cx="21312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Digitizes scanned or handwritten documents into machine-readable 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5868" y="1965960"/>
            <a:ext cx="2533574" cy="3246120"/>
          </a:xfrm>
          <a:prstGeom prst="roundRect">
            <a:avLst>
              <a:gd name="adj" fmla="val 433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65455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65455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7036" y="3383280"/>
            <a:ext cx="21312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7036" y="4114800"/>
            <a:ext cx="21312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document layout, image quality, and structure — not just characters.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9481" y="1965960"/>
            <a:ext cx="2533574" cy="3246120"/>
          </a:xfrm>
          <a:prstGeom prst="roundRect">
            <a:avLst>
              <a:gd name="adj" fmla="val 433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19068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919068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0649" y="3383280"/>
            <a:ext cx="21312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(Multimodal)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10649" y="4114800"/>
            <a:ext cx="21312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text and images jointly, instead of as separate pipeline stages.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→ Present → Future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75688"/>
            <a:ext cx="3393338" cy="8229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5" name="Shape 3"/>
          <p:cNvSpPr/>
          <p:nvPr/>
        </p:nvSpPr>
        <p:spPr>
          <a:xfrm>
            <a:off x="1989277" y="1691640"/>
            <a:ext cx="512064" cy="51206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6" name="Text 4"/>
          <p:cNvSpPr/>
          <p:nvPr/>
        </p:nvSpPr>
        <p:spPr>
          <a:xfrm>
            <a:off x="1989277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Pipelines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11901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rules, dictionaries, and template OCR. Brittle on any document that deviates from the expected layout.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2075688"/>
            <a:ext cx="3393338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5839816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39816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99178" y="237744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99178" y="274320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+ LLM, Bolted Together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36338" y="3474720"/>
            <a:ext cx="311901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OCR stage feeds a general-purpose LLM. Better accuracy, but still a multi-stage pipeline with a fragile handoff.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49717" y="2075688"/>
            <a:ext cx="3393338" cy="8229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0354" y="1691640"/>
            <a:ext cx="512064" cy="51206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9690354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49717" y="237744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49717" y="274320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Single-Model Multimodal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6877" y="3474720"/>
            <a:ext cx="311901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vision-capable model reads the document image directly — text, layout, and quality reasoned over jointly.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94415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Vellum is built on stage 3 — a single multimodal call — while keeping stage 2 available as a live, side-by-side comparison.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PRESENT-DAY REALITY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Gap Is Real — and Measured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LLM agreement with certified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ICD-10 coders on real notes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(GPT-4, benchmark study)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99178" y="201168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399178" y="324612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hallucination rate across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12,999 clinician-annotated sentences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LLM-generated clinical 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49717" y="201168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6.26%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8249717" y="324612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claims-error rate across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system today —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this technology addresses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Simmons et al. (2025), Applied Clinical Informatics · Kim et al. (2025), arXiv:2503.05777 · Grigalashvili (2026), Helpware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Collapsing the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MULTI-STAGE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AAB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9659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AAB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9659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86200" y="19659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AAB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9659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handoff loses information and adds latency, cost, and a place to fail.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737360"/>
            <a:ext cx="0" cy="4206240"/>
          </a:xfrm>
          <a:prstGeom prst="line">
            <a:avLst/>
          </a:prstGeom>
          <a:noFill/>
          <a:ln w="19050">
            <a:solidFill>
              <a:srgbClr val="D8DCE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5800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VELLUM — SINGLE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965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multimodal call reads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image directly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6576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JSON: patient, provider, dates, diagnoses (ICD-10), procedures (CPT)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 score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flag on anything uncertain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94415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stages means fewer places for information to be lost — and a smaller system to build, test, and maintain.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OF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Vellum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demonstrator: upload a scanned clinical billing document, and a single multimodal call extracts a fully structured, review-ready record.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679192"/>
            <a:ext cx="4084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provider, date of service, diagnoses (ICD-10), procedures (CPT) — one pass, no OCR.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/>
          <p:nvPr/>
        </p:nvSpPr>
        <p:spPr>
          <a:xfrm>
            <a:off x="650732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30288" y="23134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review flags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30288" y="2679192"/>
            <a:ext cx="4084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scored; ambiguous or low-confidence lines are flagged for a human coder.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05079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backends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00200" y="4416552"/>
            <a:ext cx="4084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(cloud) or a fully local Ollama model — free, offline inference, tested side by side.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8728" y="388620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8" name="Text 16"/>
          <p:cNvSpPr/>
          <p:nvPr/>
        </p:nvSpPr>
        <p:spPr>
          <a:xfrm>
            <a:off x="6507328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30288" y="405079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stress-testing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30288" y="4416552"/>
            <a:ext cx="4084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documents rendered at clean, mild-noise, and degraded/blurred scan quality.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Vellum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extraction on a degraded, blurred scan — Claude API 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F. Castellano · DOB 02/27/1994 · MRN SYN-40587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2121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Amara Solis, DO · NPI 1847362910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83880" y="2121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01/11/2026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(ICD-10)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Sprain of ACL, right knee, initial encounter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52160" y="3200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ICD-10: S83.511A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325526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32552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pain, right knee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5216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ICD-10: M25.561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3666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3666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(CPT)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805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Office/outpatient visit, new patient, moderate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52160" y="4480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CPT: 99204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453542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8790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4535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23960" y="4480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needs review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8920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Radiologic exam, knee, 3 views, right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52160" y="4892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CPT: 73562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9469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8790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946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530352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5303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immobilizer fitting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52160" y="5303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CPT: 29515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0" y="53583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5358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823960" y="5303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needs review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89788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BF1D8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Record-level needs_review = true — routed to a human coder before any billing use.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HEAD-TO-HEAD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vs. Local: The Real Tradeoff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(cloud)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34640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Reads dense scanned text reliably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3584448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Follows the JSON schema every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4334256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Correctly flags low-confidence codes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5084064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Costs per call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691640"/>
            <a:ext cx="3454298" cy="868680"/>
          </a:xfrm>
          <a:prstGeom prst="roundRect">
            <a:avLst>
              <a:gd name="adj" fmla="val 10526"/>
            </a:avLst>
          </a:prstGeom>
          <a:solidFill>
            <a:srgbClr val="5A61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78308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Ollama, small VLM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51578" y="21945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moondream · 1.7GB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8698" y="265176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866" y="2834640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Free, fully offline inference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69866" y="3584448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Fails to read dense document text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9866" y="4334256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Hallucinates unrelated content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69866" y="5084064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usable for this task yet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8757" y="1691640"/>
            <a:ext cx="3454298" cy="868680"/>
          </a:xfrm>
          <a:prstGeom prst="roundRect">
            <a:avLst>
              <a:gd name="adj" fmla="val 10526"/>
            </a:avLst>
          </a:prstGeom>
          <a:solidFill>
            <a:srgbClr val="B8790A"/>
          </a:solidFill>
          <a:ln/>
        </p:spPr>
      </p:sp>
      <p:sp>
        <p:nvSpPr>
          <p:cNvPr id="21" name="Text 19"/>
          <p:cNvSpPr/>
          <p:nvPr/>
        </p:nvSpPr>
        <p:spPr>
          <a:xfrm>
            <a:off x="8371637" y="178308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Ollama, larger VLM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71637" y="21945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llava (7B) · 4.7GB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8757" y="2651760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9925" y="2834640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Free, fully offline inference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89925" y="3584448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Reads real document content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89925" y="4334256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Schema + code accuracy inconsistent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89925" y="5084064"/>
            <a:ext cx="305196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Promising, not yet production-ready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directly in this project's proof of concept, not assumed from vendor claims.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COTIVITI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EAF4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Payment-integrity market growing to $31.25B by 2031 (12.86% CAGR) — real demand for tools that catch errors earlier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multimodal call replaces a brittle multi-stage OCR/NER/normalization pipeline — less to build, less to maintain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Confidence scoring + needs_review maps directly onto the industry shift from post-payment audits to pre-payment prevention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6507328" y="178308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07328" y="228600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Even frontier LLMs show poor concordance with certified coders (15.2% best case) — full automation is not viable today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07328" y="352044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Hallucinated content can silently enter documentation and compound over time if not caught at intake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07328" y="4754880"/>
            <a:ext cx="49071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Cost-driven bets on cheap local-only inference risk a real accuracy regression, demonstrated directly in this POC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Measure, Expand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human-in-the-loop multimodal document-intake copilot — structured extraction with mandatory confidence scores and review flags, not autonomous coding — starting on high-volume, lower-risk document types before expanding to complex discharge summaries.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it with a standing internal benchmark that continuously measures model concordance against certified coders — gating any expansion of automation scope on measured accuracy, not vendor claims.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94415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POC, and full source citations available in the Vellum GitHub repository.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Desai  ·  Cotiviti Intern Assessment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2026-08-06T05:53:23Z</dcterms:created>
  <dcterms:modified xsi:type="dcterms:W3CDTF">2026-08-06T05:53:23Z</dcterms:modified>
</cp:coreProperties>
</file>